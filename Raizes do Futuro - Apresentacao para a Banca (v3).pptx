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889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4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47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77240" y="105156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FAF7F0"/>
          </a:solidFill>
          <a:ln/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234440"/>
            <a:ext cx="2011680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66160" y="132588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RAÍZES DO FUTURO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3566160" y="221284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BFE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impacto ambiental à proteção da infância — Boipeba, BA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3566160" y="2852928"/>
            <a:ext cx="4709160" cy="475488"/>
          </a:xfrm>
          <a:prstGeom prst="roundRect">
            <a:avLst>
              <a:gd name="adj" fmla="val 50000"/>
            </a:avLst>
          </a:prstGeom>
          <a:solidFill>
            <a:srgbClr val="1CABE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3566160" y="2852928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Challenge Blockchain · UNICEF Brasil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1520" y="4160520"/>
            <a:ext cx="10607040" cy="1783080"/>
          </a:xfrm>
          <a:prstGeom prst="roundRect">
            <a:avLst>
              <a:gd name="adj" fmla="val 5128"/>
            </a:avLst>
          </a:prstGeom>
          <a:solidFill>
            <a:srgbClr val="1B5B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1051560" y="4343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A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1560" y="4800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Milena Lopes Calasans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051560" y="517550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E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Web3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657600" y="4800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Amanda Carolina Folly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3657600" y="517550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E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 Pitch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263640" y="4800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Thalyta Silva dos Santos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263640" y="517550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E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de campo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869680" y="4800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Clara de O. Bastos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869680" y="517550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E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web2/web3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772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B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funcional · cofre 2-de-3 real na Solana devnet · Salvador/BA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problema: três engrenagens que se reforçam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81328"/>
            <a:ext cx="777240" cy="777240"/>
          </a:xfrm>
          <a:prstGeom prst="ellipse">
            <a:avLst/>
          </a:prstGeom>
          <a:solidFill>
            <a:srgbClr val="1B7A4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91640" y="13716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Lixo todo dia na praia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91640" y="17830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Boipeba (Cairu-BA) vive do turismo, e o resíduo chega diariamente às praias de uma ilha sem estrutura de reciclagem.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898648"/>
            <a:ext cx="777240" cy="777240"/>
          </a:xfrm>
          <a:prstGeom prst="ellipse">
            <a:avLst/>
          </a:prstGeom>
          <a:solidFill>
            <a:srgbClr val="1B7A4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" y="28986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691640" y="27889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fica longe de quem trabalha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91640" y="32004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Moradores e recicladores fazem a limpeza — e capturam quase nada do valor econômico que esse trabalho gera.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315968"/>
            <a:ext cx="777240" cy="777240"/>
          </a:xfrm>
          <a:prstGeom prst="ellipse">
            <a:avLst/>
          </a:prstGeom>
          <a:solidFill>
            <a:srgbClr val="1B7A4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0080" y="431596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691640" y="42062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não vira proteção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91640" y="46177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Famílias em vulnerabilidade lutam para manter vacinação, matrícula e frequência escolar das crianças em dia.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15200" y="1371600"/>
            <a:ext cx="4297680" cy="4206240"/>
          </a:xfrm>
          <a:prstGeom prst="roundRect">
            <a:avLst>
              <a:gd name="adj" fmla="val 1739"/>
            </a:avLst>
          </a:prstGeom>
          <a:solidFill>
            <a:srgbClr val="12472B"/>
          </a:solidFill>
          <a:ln/>
          <a:effectLst>
            <a:outerShdw blurRad="76200" dist="25400" dir="5400000" algn="bl" rotWithShape="0">
              <a:srgbClr val="9AA79E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635240" y="1783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impacto ambiental é produzido localmente.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635240" y="26060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FE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fica longe de quem o produz.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635240" y="34290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A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 renda, quando existe, nem sempre se converte em proteção da infância.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635240" y="4709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B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Quebrar esse ciclo é o objetivo do projeto.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Raízes do Futuro · Youth Challenge Blockchain — UNICEF Brasil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solução: uma infraestrutura, três pontas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validada vira evidência auditável; evidência vira receita; receita vira renda e proteção da infância — dividida por código.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572768" cy="868680"/>
          </a:xfrm>
          <a:prstGeom prst="chevron">
            <a:avLst/>
          </a:prstGeom>
          <a:solidFill>
            <a:srgbClr val="58996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67512" y="169164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Resíduo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30552" y="1691640"/>
            <a:ext cx="1572768" cy="868680"/>
          </a:xfrm>
          <a:prstGeom prst="chevron">
            <a:avLst/>
          </a:prstGeom>
          <a:solidFill>
            <a:srgbClr val="58996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295144" y="169164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58184" y="1691640"/>
            <a:ext cx="1572768" cy="868680"/>
          </a:xfrm>
          <a:prstGeom prst="chevron">
            <a:avLst/>
          </a:prstGeom>
          <a:solidFill>
            <a:srgbClr val="58996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922776" y="169164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Circularidade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85816" y="1691640"/>
            <a:ext cx="1572768" cy="868680"/>
          </a:xfrm>
          <a:prstGeom prst="chevron">
            <a:avLst/>
          </a:prstGeom>
          <a:solidFill>
            <a:srgbClr val="1CABE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550408" y="169164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turista + ESG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013448" y="1691640"/>
            <a:ext cx="1572768" cy="868680"/>
          </a:xfrm>
          <a:prstGeom prst="chevron">
            <a:avLst/>
          </a:prstGeom>
          <a:solidFill>
            <a:srgbClr val="1B7A4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178040" y="169164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60/25/15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641080" y="1691640"/>
            <a:ext cx="1572768" cy="868680"/>
          </a:xfrm>
          <a:prstGeom prst="chevron">
            <a:avLst/>
          </a:prstGeom>
          <a:solidFill>
            <a:srgbClr val="1B7A4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805672" y="169164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2-de-3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268712" y="1691640"/>
            <a:ext cx="1572768" cy="868680"/>
          </a:xfrm>
          <a:prstGeom prst="chevron">
            <a:avLst/>
          </a:prstGeom>
          <a:solidFill>
            <a:srgbClr val="1B7A4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0433304" y="169164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01752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9E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31520" y="32004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5000" dirty="0"/>
          </a:p>
        </p:txBody>
      </p:sp>
      <p:sp>
        <p:nvSpPr>
          <p:cNvPr id="20" name="Text 18"/>
          <p:cNvSpPr/>
          <p:nvPr/>
        </p:nvSpPr>
        <p:spPr>
          <a:xfrm>
            <a:off x="731520" y="4114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direta e incondicional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1520" y="449884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 coletou — nunca é retida, nunca é condicionada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25112" y="301752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9E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553712" y="32004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CA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5000" dirty="0"/>
          </a:p>
        </p:txBody>
      </p:sp>
      <p:sp>
        <p:nvSpPr>
          <p:cNvPr id="24" name="Text 22"/>
          <p:cNvSpPr/>
          <p:nvPr/>
        </p:nvSpPr>
        <p:spPr>
          <a:xfrm>
            <a:off x="4553712" y="4114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 Infância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53712" y="449884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bônus de R$ 30/criança/mês por vacinação, matrícula e frequência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47304" y="301752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9E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8375904" y="32004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589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5000" dirty="0"/>
          </a:p>
        </p:txBody>
      </p:sp>
      <p:sp>
        <p:nvSpPr>
          <p:cNvPr id="28" name="Text 26"/>
          <p:cNvSpPr/>
          <p:nvPr/>
        </p:nvSpPr>
        <p:spPr>
          <a:xfrm>
            <a:off x="8375904" y="4114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375904" y="449884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validação, logística e taxas de rede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55778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fontes de receita: </a:t>
            </a:r>
            <a:r>
              <a:rPr lang="en-US" sz="13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reciclados vendidos a turistas (com QR de rastreio em PT/EN) e relatórios ESG + créditos de reciclagem comprados por empresas.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Raízes do Futuro · Youth Challenge Blockchain — UNICEF Brasil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 Infância: o cofre que ninguém move sozinho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32588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9E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4904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nunca condicionada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bônus é sempre adicional. A renda do trabalho de coleta é incondicional — princípio inegociável.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292608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9E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77240" y="30906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Reservado, nunca perdido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3474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Compromisso não cumprido → bônus fica reservado e pode ser liberado retroativamente no semestre.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452628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9E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77240" y="46908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 3 assinaturas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77240" y="50749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Vivá, DeTrash e representante comunitário. Cada liberação exige duas — garantia no cofre on-chain, não em regulamento.</a:t>
            </a:r>
            <a:endParaRPr lang="en-US" sz="1200" dirty="0"/>
          </a:p>
        </p:txBody>
      </p:sp>
      <p:pic>
        <p:nvPicPr>
          <p:cNvPr id="12" name="Image 0" descr="painel-cof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325880"/>
            <a:ext cx="5760720" cy="3922776"/>
          </a:xfrm>
          <a:prstGeom prst="rect">
            <a:avLst/>
          </a:prstGeom>
          <a:effectLst>
            <a:outerShdw blurRad="101600" dist="38100" dir="5400000" algn="bl" rotWithShape="0">
              <a:srgbClr val="9AA79E">
                <a:alpha val="30000"/>
              </a:srgbClr>
            </a:outerShdw>
          </a:effectLst>
        </p:spPr>
      </p:pic>
      <p:sp>
        <p:nvSpPr>
          <p:cNvPr id="13" name="Text 10"/>
          <p:cNvSpPr/>
          <p:nvPr/>
        </p:nvSpPr>
        <p:spPr>
          <a:xfrm>
            <a:off x="5897880" y="539496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real do MVP: propostas com as 3 chaves signatárias e liberação executada ao atingir 2/3 — com links de auditoria no Solana Explorer.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6172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das famílias ficam off-chain; só o hash da validação vai à rede (LGPD).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Raízes do Futuro · Youth Challenge Blockchain — UNICEF Brasil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4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promessa: o cofre já opera na Solana devnet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F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Multisig 2-de-3 nativo do SPL Token · token cRED (1 = R$ 1,00) · liberação real de R$ 30 assinada por Instituto Vivá + DeTrash — o terceiro signatário não assinou, e a transferência passou: o limiar é 2, não unanimidade.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2057400"/>
            <a:ext cx="11155680" cy="658368"/>
          </a:xfrm>
          <a:prstGeom prst="roundRect">
            <a:avLst>
              <a:gd name="adj" fmla="val 8333"/>
            </a:avLst>
          </a:prstGeom>
          <a:solidFill>
            <a:srgbClr val="1B5B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31520" y="21305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A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cRED (mint)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794760" y="213055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D9J8cMSyimjt9QoHP1w1pcEu4tuevLKcW9vZUTegnjWY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834640"/>
            <a:ext cx="11155680" cy="658368"/>
          </a:xfrm>
          <a:prstGeom prst="roundRect">
            <a:avLst>
              <a:gd name="adj" fmla="val 8333"/>
            </a:avLst>
          </a:prstGeom>
          <a:solidFill>
            <a:srgbClr val="1B5B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31520" y="29077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A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Cofre multisig 2-de-3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94760" y="290779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6tBWXEPUNHBEAvLXY3RJ1ectEPHa7H87oLrP4xD4cPi4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611880"/>
            <a:ext cx="11155680" cy="658368"/>
          </a:xfrm>
          <a:prstGeom prst="roundRect">
            <a:avLst>
              <a:gd name="adj" fmla="val 8333"/>
            </a:avLst>
          </a:prstGeom>
          <a:solidFill>
            <a:srgbClr val="1B5B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31520" y="36850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A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Liberação assinada 2-de-3 (tx)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94760" y="368503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4vuXwbsTSviC8yNvGYtQ67waArcNAapawwDmZnQQmStJQhsMEx5U5GS4uEGxGmX6FVucK9MdweBom8Ryk6hZfAEX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44348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FB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Verificável por qualquer pessoa no Solana Explorer (cluster devnet)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4892040"/>
            <a:ext cx="3602736" cy="1371600"/>
          </a:xfrm>
          <a:prstGeom prst="roundRect">
            <a:avLst>
              <a:gd name="adj" fmla="val 5333"/>
            </a:avLst>
          </a:prstGeom>
          <a:solidFill>
            <a:srgbClr val="1B5B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04088" y="5029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A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Ancoragem on-chain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4088" y="5367528"/>
            <a:ext cx="3246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F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de cada Relatório de Circularidade e das decisões de assembleia registrado na rede (programa Memo).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25112" y="4892040"/>
            <a:ext cx="3602736" cy="1371600"/>
          </a:xfrm>
          <a:prstGeom prst="roundRect">
            <a:avLst>
              <a:gd name="adj" fmla="val 5333"/>
            </a:avLst>
          </a:prstGeom>
          <a:solidFill>
            <a:srgbClr val="1B5B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526280" y="5029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A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Solana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26280" y="5367528"/>
            <a:ext cx="3246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F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fração de centavo e confirmação em segundos — viável para micropagamentos de R$ 30.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47304" y="4892040"/>
            <a:ext cx="3602736" cy="1371600"/>
          </a:xfrm>
          <a:prstGeom prst="roundRect">
            <a:avLst>
              <a:gd name="adj" fmla="val 5333"/>
            </a:avLst>
          </a:prstGeom>
          <a:solidFill>
            <a:srgbClr val="1B5B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8348472" y="5029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A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 (LGPD)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48472" y="5367528"/>
            <a:ext cx="3246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F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por papel, pseudonimização, consentimento versionado, retenção de 24 meses com expurgo. PIN só no aparelho da família.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Raízes do Futuro · Youth Challenge Blockchain — UNICEF Brasil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app da família: zero jargão, zero barreira</a:t>
            </a:r>
            <a:endParaRPr lang="en-US" sz="3000" dirty="0"/>
          </a:p>
        </p:txBody>
      </p:sp>
      <p:pic>
        <p:nvPicPr>
          <p:cNvPr id="3" name="Image 0" descr="app-familia-celu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34440"/>
            <a:ext cx="2313432" cy="5056632"/>
          </a:xfrm>
          <a:prstGeom prst="rect">
            <a:avLst/>
          </a:prstGeom>
          <a:effectLst>
            <a:outerShdw blurRad="101600" dist="38100" dir="5400000" algn="bl" rotWithShape="0">
              <a:srgbClr val="9AA79E">
                <a:alpha val="30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3429000" y="1234440"/>
            <a:ext cx="82296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9E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3703320" y="134416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uma palavra em inglês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3703320" y="1691640"/>
            <a:ext cx="7726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"wallet", "token" ou "blockchain": é "conta da família", "dinheiro", "bônus". Entrada com celular + PIN de 4 números — sem seed phrase.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429000" y="2514600"/>
            <a:ext cx="82296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9E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3703320" y="262432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Feito para a ilha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3703320" y="2971800"/>
            <a:ext cx="7726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offline (sinal intermitente), com leitura em voz alta pela mascote Tuca 🐢, letra ampliada e onboarding em missões gamificadas.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29000" y="3794760"/>
            <a:ext cx="82296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9E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3703320" y="390448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família confere e contesta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3703320" y="4251960"/>
            <a:ext cx="7726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"Suas entregas" mostra cada registro no nome dela — com botão "Isso está errado?" que abre contestação respondida pelo Instituto Vivá.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429000" y="5074920"/>
            <a:ext cx="82296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9E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3703320" y="51846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Dinheiro de verdade na mão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3703320" y="5532120"/>
            <a:ext cx="7726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em reais, meta de poupança e saque em 2 toques. No MVP o saque é demonstrativo; a rampa Pix em carteira Solana (ex.: Decaf) é o próximo passo.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Raízes do Futuro · Youth Challenge Blockchain — UNICEF Brasil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Prova, não só protótipo: MVP verificado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Oito suítes automatizadas — as que dependem de infraestrutura rodam contra o banco real, não contra simulação.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1B7A43"/>
          </a:solidFill>
          <a:ln/>
          <a:effectLst>
            <a:outerShdw blurRad="76200" dist="25400" dir="5400000" algn="bl" rotWithShape="0">
              <a:srgbClr val="9AA79E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717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F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garantias verificadas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DF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8 suítes de teste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1600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A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577840" y="16459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— split, reserva retroativa, 2-de-3, PIN e metas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216712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A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577840" y="221284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— o app real no Edge, incl. "zero jargão na tela da família"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273405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A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577840" y="277977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 — políticas por papel e consentimento no banco real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0" y="330098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A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+ 19 + 17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577840" y="334670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· dois aparelhos offline · canal de contestação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97764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9E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77240" y="4160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de campo — 31 ouvidos (27/07)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4553712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dos turistas comprariam os produtos e 80% dizem que o destino social muda a compra. 88% dos moradores usariam o app; benefício percebido 4,5/5; 100% usam Pix. Dos 4 comércios ouvidos, 3 investiriam mensalmente na coleta validada.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397764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E3F0E8"/>
          </a:solidFill>
          <a:ln/>
          <a:effectLst>
            <a:outerShdw blurRad="76200" dist="25400" dir="5400000" algn="bl" rotWithShape="0">
              <a:srgbClr val="9AA79E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53796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Honestidade como método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4553712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suíte inteira existe só para falhar quando a tela promete o que o banco não cumpre. E o formulário separa explicitamente o que está implantado do que é desenho — a banca pode auditar tudo.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Raízes do Futuro · Youth Challenge Blockchain — UNICEF Brasil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Sustentabilidade: receita própria, não doação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3602736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9E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R$ 24 mil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Turismo responsável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71576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de material recuperado vendidos a turistas — 100 produtos/mês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25112" y="1371600"/>
            <a:ext cx="3602736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9E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53712" y="1554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A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R$ 18 mil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53712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corporativo ESG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53712" y="271576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de Circularidade e créditos de reciclagem (R$ 250/t) — 3 empresas parceiras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47304" y="1371600"/>
            <a:ext cx="3538728" cy="2148840"/>
          </a:xfrm>
          <a:prstGeom prst="roundRect">
            <a:avLst>
              <a:gd name="adj" fmla="val 3404"/>
            </a:avLst>
          </a:prstGeom>
          <a:solidFill>
            <a:srgbClr val="12472B"/>
          </a:solidFill>
          <a:ln/>
          <a:effectLst>
            <a:outerShdw blurRad="76200" dist="25400" dir="5400000" algn="bl" rotWithShape="0">
              <a:srgbClr val="9AA79E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375904" y="1554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R$ 42 mil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375904" y="2331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FE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6 meses de piloto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75904" y="271576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B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premissas conservadoras: 2 t/mês validadas · ~R$ 140/família/mês de renda direta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840480"/>
            <a:ext cx="11183112" cy="2240280"/>
          </a:xfrm>
          <a:prstGeom prst="roundRect">
            <a:avLst>
              <a:gd name="adj" fmla="val 3265"/>
            </a:avLst>
          </a:prstGeom>
          <a:solidFill>
            <a:srgbClr val="E3F0E8"/>
          </a:solidFill>
          <a:ln/>
          <a:effectLst>
            <a:outerShdw blurRad="76200" dist="25400" dir="5400000" algn="bl" rotWithShape="0">
              <a:srgbClr val="9AA79E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77240" y="40233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conta que preferimos mostrar a arredondar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448056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de R$ 42 mil = R$ 10.500. O bônus integral de 60 crianças por 6 meses = R$ 10.800. A receita projetada cobre </a:t>
            </a:r>
            <a:r>
              <a:rPr lang="en-US" sz="135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do bônus máximo</a:t>
            </a:r>
            <a:r>
              <a:rPr lang="en-US" sz="13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 é por isso que o mecanismo de reserva ("validado sem saldo fica reservado, nunca perdido") não é detalhe de borda: é o que mantém o sistema honesto com a família quando a receita fica abaixo da meta. Cobrir essa diferença nos primeiros meses é o principal uso do capital semente.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Raízes do Futuro · Youth Challenge Blockchain — UNICEF Brasil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Feito para replicar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novo território o custo de tecnologia cai — cofre, app e metodologia são reutilizados. O único ativo insubstituível é a organização comunitária local.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602736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9E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1188720" cy="411480"/>
          </a:xfrm>
          <a:prstGeom prst="roundRect">
            <a:avLst>
              <a:gd name="adj" fmla="val 48889"/>
            </a:avLst>
          </a:prstGeom>
          <a:solidFill>
            <a:srgbClr val="1B7A4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Boipeba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famílias · 5 empresas recorrentes · receita corporativa ≥ 50% do total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1783080"/>
            <a:ext cx="3602736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9E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553712" y="1965960"/>
            <a:ext cx="1188720" cy="411480"/>
          </a:xfrm>
          <a:prstGeom prst="roundRect">
            <a:avLst>
              <a:gd name="adj" fmla="val 48889"/>
            </a:avLst>
          </a:prstGeom>
          <a:solidFill>
            <a:srgbClr val="1B7A4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53712" y="1965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53712" y="25146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territórios costeiros da Bahia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53712" y="320040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 famílias, via rede de parceiros socioambientais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47304" y="1783080"/>
            <a:ext cx="3602736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9E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375904" y="1965960"/>
            <a:ext cx="1188720" cy="411480"/>
          </a:xfrm>
          <a:prstGeom prst="roundRect">
            <a:avLst>
              <a:gd name="adj" fmla="val 48889"/>
            </a:avLst>
          </a:prstGeom>
          <a:solidFill>
            <a:srgbClr val="1CABE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375904" y="1965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3+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75904" y="25146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 aberto de implantação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375904" y="320040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DeTrash + cofre-modelo multisig + app white-label (já com camada do turista em inglês) — comunidades costeiras, ribeirinhas e quilombolas; adaptável a outros países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4754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A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PARCEIROS E INTERLOCUÇÕES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512064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Vivá</a:t>
            </a:r>
            <a:r>
              <a:rPr lang="en-US" sz="12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mobilização e validação social no território  ·  </a:t>
            </a:r>
            <a:r>
              <a:rPr lang="en-US" sz="125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DeTrash</a:t>
            </a:r>
            <a:r>
              <a:rPr lang="en-US" sz="12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metodologia de validação ambiental  ·  </a:t>
            </a:r>
            <a:r>
              <a:rPr lang="en-US" sz="125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Recy</a:t>
            </a:r>
            <a:r>
              <a:rPr lang="en-US" sz="12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orientou o desenho do contrato (integração futura)  ·  </a:t>
            </a:r>
            <a:r>
              <a:rPr lang="en-US" sz="125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rampa Pix</a:t>
            </a:r>
            <a:r>
              <a:rPr lang="en-US" sz="12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interlocução a formalizar com carteira Solana (ex.: Decaf: USDC na Solana, saque Pix e cartão)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Raízes do Futuro · Youth Challenge Blockchain — UNICEF Brasil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4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piloto que o apoio semente destrava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B5B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A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F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resíduos validados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64992" y="12344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B5B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547872" y="13716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A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R$ 42 mil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547872" y="19659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F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circulando na comunidade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27064" y="12344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B5B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9944" y="13716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A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famílias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9944" y="19659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F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60 crianças acompanhadas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089136" y="12344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B5B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9272016" y="13716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A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272016" y="19659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F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crianças com saúde e escola em dia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6974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FB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do piloto de 6 meses em Boipeba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A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DO INVESTIMENTO SEMENTE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Desenvolvimento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02920" y="3986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E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e mainnet do cofre multisig + integração da rampa Pix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179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Operação de campo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217920" y="3986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E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 de coleta e pesagem, capacitação de 20 coletores e agentes validadores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Capital semente do Fundo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2920" y="485546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E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os primeiros meses de bônus enquanto a receita corporativa escala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17920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Medição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217920" y="485546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E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de base e acompanhamento auditável dos indicadores das 60 crianças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5486400"/>
            <a:ext cx="11183112" cy="914400"/>
          </a:xfrm>
          <a:prstGeom prst="roundRect">
            <a:avLst>
              <a:gd name="adj" fmla="val 10000"/>
            </a:avLst>
          </a:prstGeom>
          <a:solidFill>
            <a:srgbClr val="1B7A4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777240" y="54864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blockchain é a infraestrutura. A economia circular é o motor. As crianças são o futuro que queremos proteger."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· Modelo de negócio</a:t>
            </a:r>
            <a:endParaRPr lang="en-US" sz="3000" dirty="0"/>
          </a:p>
        </p:txBody>
      </p:sp>
      <p:sp>
        <p:nvSpPr>
          <p:cNvPr id="3" name="Text"/>
          <p:cNvSpPr/>
          <p:nvPr/>
        </p:nvSpPr>
        <p:spPr>
          <a:xfrm>
            <a:off x="502920" y="10058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própria desde o piloto — quem paga, quanto paga e como o dinheiro se divide, por código.</a:t>
            </a:r>
            <a:endParaRPr lang="en-US" sz="1300" dirty="0"/>
          </a:p>
        </p:txBody>
      </p:sp>
      <p:sp>
        <p:nvSpPr>
          <p:cNvPr id="4" name="Shape"/>
          <p:cNvSpPr/>
          <p:nvPr/>
        </p:nvSpPr>
        <p:spPr>
          <a:xfrm>
            <a:off x="502920" y="1554480"/>
            <a:ext cx="3602736" cy="228600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9E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"/>
          <p:cNvSpPr/>
          <p:nvPr/>
        </p:nvSpPr>
        <p:spPr>
          <a:xfrm>
            <a:off x="731520" y="173736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paga · turistas</a:t>
            </a:r>
            <a:endParaRPr lang="en-US" sz="1500" dirty="0"/>
          </a:p>
        </p:txBody>
      </p:sp>
      <p:sp>
        <p:nvSpPr>
          <p:cNvPr id="6" name="Text"/>
          <p:cNvSpPr/>
          <p:nvPr/>
        </p:nvSpPr>
        <p:spPr>
          <a:xfrm>
            <a:off x="731520" y="2103120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R$ 24 mil</a:t>
            </a:r>
            <a:endParaRPr lang="en-US" sz="3200" dirty="0"/>
          </a:p>
        </p:txBody>
      </p:sp>
      <p:sp>
        <p:nvSpPr>
          <p:cNvPr id="7" name="Text"/>
          <p:cNvSpPr/>
          <p:nvPr/>
        </p:nvSpPr>
        <p:spPr>
          <a:xfrm>
            <a:off x="731520" y="2697480"/>
            <a:ext cx="31455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produtos/mês de material recuperado, com QR de rastreio em PT/EN — ticket médio de R$ 40. Projeção para os 6 meses de piloto.</a:t>
            </a:r>
            <a:endParaRPr lang="en-US" sz="1150" dirty="0"/>
          </a:p>
        </p:txBody>
      </p:sp>
      <p:sp>
        <p:nvSpPr>
          <p:cNvPr id="8" name="Shape"/>
          <p:cNvSpPr/>
          <p:nvPr/>
        </p:nvSpPr>
        <p:spPr>
          <a:xfrm>
            <a:off x="4325112" y="1554480"/>
            <a:ext cx="3602736" cy="228600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9E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"/>
          <p:cNvSpPr/>
          <p:nvPr/>
        </p:nvSpPr>
        <p:spPr>
          <a:xfrm>
            <a:off x="4553712" y="173736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paga · empresas (ESG)</a:t>
            </a:r>
            <a:endParaRPr lang="en-US" sz="1500" dirty="0"/>
          </a:p>
        </p:txBody>
      </p:sp>
      <p:sp>
        <p:nvSpPr>
          <p:cNvPr id="10" name="Text"/>
          <p:cNvSpPr/>
          <p:nvPr/>
        </p:nvSpPr>
        <p:spPr>
          <a:xfrm>
            <a:off x="4553712" y="2103120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A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R$ 18 mil</a:t>
            </a:r>
            <a:endParaRPr lang="en-US" sz="3200" dirty="0"/>
          </a:p>
        </p:txBody>
      </p:sp>
      <p:sp>
        <p:nvSpPr>
          <p:cNvPr id="11" name="Text"/>
          <p:cNvSpPr/>
          <p:nvPr/>
        </p:nvSpPr>
        <p:spPr>
          <a:xfrm>
            <a:off x="4553712" y="2697480"/>
            <a:ext cx="31455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de Circularidade e créditos de reciclagem a R$ 250/t — 3 empresas parceiras, que precisam comprovar metas ESG mês a mês.</a:t>
            </a:r>
            <a:endParaRPr lang="en-US" sz="1150" dirty="0"/>
          </a:p>
        </p:txBody>
      </p:sp>
      <p:sp>
        <p:nvSpPr>
          <p:cNvPr id="12" name="Shape"/>
          <p:cNvSpPr/>
          <p:nvPr/>
        </p:nvSpPr>
        <p:spPr>
          <a:xfrm>
            <a:off x="8147304" y="1554480"/>
            <a:ext cx="3538728" cy="2286000"/>
          </a:xfrm>
          <a:prstGeom prst="roundRect">
            <a:avLst>
              <a:gd name="adj" fmla="val 3404"/>
            </a:avLst>
          </a:prstGeom>
          <a:solidFill>
            <a:srgbClr val="12472B"/>
          </a:solidFill>
          <a:ln/>
          <a:effectLst>
            <a:outerShdw blurRad="76200" dist="25400" dir="5400000" algn="bl" rotWithShape="0">
              <a:srgbClr val="9AA79E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"/>
          <p:cNvSpPr/>
          <p:nvPr/>
        </p:nvSpPr>
        <p:spPr>
          <a:xfrm>
            <a:off x="8375904" y="173736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FE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divide · split por código</a:t>
            </a:r>
            <a:endParaRPr lang="en-US" sz="1500" dirty="0"/>
          </a:p>
        </p:txBody>
      </p:sp>
      <p:sp>
        <p:nvSpPr>
          <p:cNvPr id="14" name="Text"/>
          <p:cNvSpPr/>
          <p:nvPr/>
        </p:nvSpPr>
        <p:spPr>
          <a:xfrm>
            <a:off x="8375904" y="2103120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/ 25 / 15</a:t>
            </a:r>
            <a:endParaRPr lang="en-US" sz="3200" dirty="0"/>
          </a:p>
        </p:txBody>
      </p:sp>
      <p:sp>
        <p:nvSpPr>
          <p:cNvPr id="15" name="Text"/>
          <p:cNvSpPr/>
          <p:nvPr/>
        </p:nvSpPr>
        <p:spPr>
          <a:xfrm>
            <a:off x="8375904" y="2697480"/>
            <a:ext cx="3081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FB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renda direta e incondicional (~R$ 140/família/mês) · 25% Fundo Infância (bônus de R$ 30/criança/mês) · 15% operação. Executado no registro da receita — sem caixa intermediário.</a:t>
            </a:r>
            <a:endParaRPr lang="en-US" sz="1150" dirty="0"/>
          </a:p>
        </p:txBody>
      </p:sp>
      <p:sp>
        <p:nvSpPr>
          <p:cNvPr id="16" name="Shape"/>
          <p:cNvSpPr/>
          <p:nvPr/>
        </p:nvSpPr>
        <p:spPr>
          <a:xfrm>
            <a:off x="502920" y="4114800"/>
            <a:ext cx="11183112" cy="1965960"/>
          </a:xfrm>
          <a:prstGeom prst="roundRect">
            <a:avLst>
              <a:gd name="adj" fmla="val 3265"/>
            </a:avLst>
          </a:prstGeom>
          <a:solidFill>
            <a:srgbClr val="E3F0E8"/>
          </a:solidFill>
          <a:ln/>
          <a:effectLst>
            <a:outerShdw blurRad="76200" dist="25400" dir="5400000" algn="bl" rotWithShape="0">
              <a:srgbClr val="9AA79E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"/>
          <p:cNvSpPr/>
          <p:nvPr/>
        </p:nvSpPr>
        <p:spPr>
          <a:xfrm>
            <a:off x="777240" y="42976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Sustentação além do piloto</a:t>
            </a:r>
            <a:endParaRPr lang="en-US" sz="1600" dirty="0"/>
          </a:p>
        </p:txBody>
      </p:sp>
      <p:sp>
        <p:nvSpPr>
          <p:cNvPr id="18" name="Text"/>
          <p:cNvSpPr/>
          <p:nvPr/>
        </p:nvSpPr>
        <p:spPr>
          <a:xfrm>
            <a:off x="777240" y="470916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receita corporativa recorrente é o motor de longo prazo: após o piloto, a meta é que ela responda por </a:t>
            </a:r>
            <a:r>
              <a:rPr lang="en-US" sz="135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50% do total, com 5 empresas recorrentes</a:t>
            </a:r>
            <a:r>
              <a:rPr lang="en-US" sz="135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cada novo território o custo de tecnologia cai — cofre, app e metodologia são reutilizados. O capital semente cobre o intervalo entre a receita projetada (97% do bônus máximo) e o compromisso com as famílias nos primeiros meses.</a:t>
            </a:r>
            <a:endParaRPr lang="en-US" sz="1350" dirty="0"/>
          </a:p>
        </p:txBody>
      </p:sp>
      <p:sp>
        <p:nvSpPr>
          <p:cNvPr id="19" name="Text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Raízes do Futuro · Youth Challenge Blockchain — UNICEF Brasil</a:t>
            </a:r>
            <a:endParaRPr lang="en-US" sz="900" dirty="0"/>
          </a:p>
        </p:txBody>
      </p:sp>
      <p:sp>
        <p:nvSpPr>
          <p:cNvPr id="20" name="Text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· Metas: o que o piloto precisa provar</a:t>
            </a:r>
            <a:endParaRPr lang="en-US" sz="3000" dirty="0"/>
          </a:p>
        </p:txBody>
      </p:sp>
      <p:sp>
        <p:nvSpPr>
          <p:cNvPr id="3" name="Text"/>
          <p:cNvSpPr/>
          <p:nvPr/>
        </p:nvSpPr>
        <p:spPr>
          <a:xfrm>
            <a:off x="502920" y="10058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meta dos 6 meses tem forma de medição auditável — e a escala já tem números definidos por ano.</a:t>
            </a:r>
            <a:endParaRPr lang="en-US" sz="1300" dirty="0"/>
          </a:p>
        </p:txBody>
      </p:sp>
      <p:sp>
        <p:nvSpPr>
          <p:cNvPr id="4" name="Shape"/>
          <p:cNvSpPr/>
          <p:nvPr/>
        </p:nvSpPr>
        <p:spPr>
          <a:xfrm>
            <a:off x="502920" y="1554480"/>
            <a:ext cx="2682240" cy="210312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9E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"/>
          <p:cNvSpPr/>
          <p:nvPr/>
        </p:nvSpPr>
        <p:spPr>
          <a:xfrm>
            <a:off x="685800" y="1737360"/>
            <a:ext cx="231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</a:t>
            </a:r>
            <a:endParaRPr lang="en-US" sz="2600" dirty="0"/>
          </a:p>
        </p:txBody>
      </p:sp>
      <p:sp>
        <p:nvSpPr>
          <p:cNvPr id="6" name="Text"/>
          <p:cNvSpPr/>
          <p:nvPr/>
        </p:nvSpPr>
        <p:spPr>
          <a:xfrm>
            <a:off x="685800" y="2194560"/>
            <a:ext cx="231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resíduos validados</a:t>
            </a:r>
            <a:endParaRPr lang="en-US" sz="1300" dirty="0"/>
          </a:p>
        </p:txBody>
      </p:sp>
      <p:sp>
        <p:nvSpPr>
          <p:cNvPr id="7" name="Text"/>
          <p:cNvSpPr/>
          <p:nvPr/>
        </p:nvSpPr>
        <p:spPr>
          <a:xfrm>
            <a:off x="685800" y="2743200"/>
            <a:ext cx="231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de Circularidade com hash SHA-256 ancorado na Solana — qualquer pessoa confere.</a:t>
            </a:r>
            <a:endParaRPr lang="en-US" sz="1000" dirty="0"/>
          </a:p>
        </p:txBody>
      </p:sp>
      <p:sp>
        <p:nvSpPr>
          <p:cNvPr id="8" name="Shape"/>
          <p:cNvSpPr/>
          <p:nvPr/>
        </p:nvSpPr>
        <p:spPr>
          <a:xfrm>
            <a:off x="3337560" y="1554480"/>
            <a:ext cx="2682240" cy="210312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9E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"/>
          <p:cNvSpPr/>
          <p:nvPr/>
        </p:nvSpPr>
        <p:spPr>
          <a:xfrm>
            <a:off x="3520440" y="1737360"/>
            <a:ext cx="231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R$ 42 mil</a:t>
            </a:r>
            <a:endParaRPr lang="en-US" sz="2600" dirty="0"/>
          </a:p>
        </p:txBody>
      </p:sp>
      <p:sp>
        <p:nvSpPr>
          <p:cNvPr id="10" name="Text"/>
          <p:cNvSpPr/>
          <p:nvPr/>
        </p:nvSpPr>
        <p:spPr>
          <a:xfrm>
            <a:off x="3520440" y="2194560"/>
            <a:ext cx="231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circulando na comunidade</a:t>
            </a:r>
            <a:endParaRPr lang="en-US" sz="1300" dirty="0"/>
          </a:p>
        </p:txBody>
      </p:sp>
      <p:sp>
        <p:nvSpPr>
          <p:cNvPr id="11" name="Text"/>
          <p:cNvSpPr/>
          <p:nvPr/>
        </p:nvSpPr>
        <p:spPr>
          <a:xfrm>
            <a:off x="3520440" y="2743200"/>
            <a:ext cx="231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receita passa pelo split 60/25/15; liberações do cofre auditáveis no Solana Explorer.</a:t>
            </a:r>
            <a:endParaRPr lang="en-US" sz="1000" dirty="0"/>
          </a:p>
        </p:txBody>
      </p:sp>
      <p:sp>
        <p:nvSpPr>
          <p:cNvPr id="12" name="Shape"/>
          <p:cNvSpPr/>
          <p:nvPr/>
        </p:nvSpPr>
        <p:spPr>
          <a:xfrm>
            <a:off x="6172200" y="1554480"/>
            <a:ext cx="2682240" cy="210312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9E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"/>
          <p:cNvSpPr/>
          <p:nvPr/>
        </p:nvSpPr>
        <p:spPr>
          <a:xfrm>
            <a:off x="6355080" y="1737360"/>
            <a:ext cx="231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famílias</a:t>
            </a:r>
            <a:endParaRPr lang="en-US" sz="2600" dirty="0"/>
          </a:p>
        </p:txBody>
      </p:sp>
      <p:sp>
        <p:nvSpPr>
          <p:cNvPr id="14" name="Text"/>
          <p:cNvSpPr/>
          <p:nvPr/>
        </p:nvSpPr>
        <p:spPr>
          <a:xfrm>
            <a:off x="6355080" y="2194560"/>
            <a:ext cx="231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60 crianças acompanhadas</a:t>
            </a:r>
            <a:endParaRPr lang="en-US" sz="1300" dirty="0"/>
          </a:p>
        </p:txBody>
      </p:sp>
      <p:sp>
        <p:nvSpPr>
          <p:cNvPr id="15" name="Text"/>
          <p:cNvSpPr/>
          <p:nvPr/>
        </p:nvSpPr>
        <p:spPr>
          <a:xfrm>
            <a:off x="6355080" y="2743200"/>
            <a:ext cx="231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validado pelo Instituto Vivá; documentos off-chain, só o hash vai à rede (LGPD).</a:t>
            </a:r>
            <a:endParaRPr lang="en-US" sz="1000" dirty="0"/>
          </a:p>
        </p:txBody>
      </p:sp>
      <p:sp>
        <p:nvSpPr>
          <p:cNvPr id="16" name="Shape"/>
          <p:cNvSpPr/>
          <p:nvPr/>
        </p:nvSpPr>
        <p:spPr>
          <a:xfrm>
            <a:off x="9006840" y="1554480"/>
            <a:ext cx="2682240" cy="210312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9E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"/>
          <p:cNvSpPr/>
          <p:nvPr/>
        </p:nvSpPr>
        <p:spPr>
          <a:xfrm>
            <a:off x="9189720" y="1737360"/>
            <a:ext cx="231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2600" dirty="0"/>
          </a:p>
        </p:txBody>
      </p:sp>
      <p:sp>
        <p:nvSpPr>
          <p:cNvPr id="18" name="Text"/>
          <p:cNvSpPr/>
          <p:nvPr/>
        </p:nvSpPr>
        <p:spPr>
          <a:xfrm>
            <a:off x="9189720" y="2194560"/>
            <a:ext cx="231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crianças com saúde e escola em dia</a:t>
            </a:r>
            <a:endParaRPr lang="en-US" sz="1300" dirty="0"/>
          </a:p>
        </p:txBody>
      </p:sp>
      <p:sp>
        <p:nvSpPr>
          <p:cNvPr id="19" name="Text"/>
          <p:cNvSpPr/>
          <p:nvPr/>
        </p:nvSpPr>
        <p:spPr>
          <a:xfrm>
            <a:off x="9189720" y="2743200"/>
            <a:ext cx="231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de base + acompanhamento auditável dos indicadores — frente 4 do investimento semente.</a:t>
            </a:r>
            <a:endParaRPr lang="en-US" sz="1000" dirty="0"/>
          </a:p>
        </p:txBody>
      </p:sp>
      <p:sp>
        <p:nvSpPr>
          <p:cNvPr id="20" name="Shape"/>
          <p:cNvSpPr/>
          <p:nvPr/>
        </p:nvSpPr>
        <p:spPr>
          <a:xfrm>
            <a:off x="502920" y="3931920"/>
            <a:ext cx="11183112" cy="1965960"/>
          </a:xfrm>
          <a:prstGeom prst="roundRect">
            <a:avLst>
              <a:gd name="adj" fmla="val 3265"/>
            </a:avLst>
          </a:prstGeom>
          <a:solidFill>
            <a:srgbClr val="E3F0E8"/>
          </a:solidFill>
          <a:ln/>
          <a:effectLst>
            <a:outerShdw blurRad="76200" dist="25400" dir="5400000" algn="bl" rotWithShape="0">
              <a:srgbClr val="9AA79E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"/>
          <p:cNvSpPr/>
          <p:nvPr/>
        </p:nvSpPr>
        <p:spPr>
          <a:xfrm>
            <a:off x="777240" y="41148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de escala — depois do piloto</a:t>
            </a:r>
            <a:endParaRPr lang="en-US" sz="1600" dirty="0"/>
          </a:p>
        </p:txBody>
      </p:sp>
      <p:sp>
        <p:nvSpPr>
          <p:cNvPr id="22" name="Text"/>
          <p:cNvSpPr/>
          <p:nvPr/>
        </p:nvSpPr>
        <p:spPr>
          <a:xfrm>
            <a:off x="777240" y="4526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1</a:t>
            </a:r>
            <a:endParaRPr lang="en-US" sz="1100" dirty="0"/>
          </a:p>
        </p:txBody>
      </p:sp>
      <p:sp>
        <p:nvSpPr>
          <p:cNvPr id="23" name="Text"/>
          <p:cNvSpPr/>
          <p:nvPr/>
        </p:nvSpPr>
        <p:spPr>
          <a:xfrm>
            <a:off x="777240" y="48006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Boipeba: 60 famílias, 5 empresas recorrentes e receita corporativa ≥ 50% do total.</a:t>
            </a:r>
            <a:endParaRPr lang="en-US" sz="1200" dirty="0"/>
          </a:p>
        </p:txBody>
      </p:sp>
      <p:sp>
        <p:nvSpPr>
          <p:cNvPr id="24" name="Text"/>
          <p:cNvSpPr/>
          <p:nvPr/>
        </p:nvSpPr>
        <p:spPr>
          <a:xfrm>
            <a:off x="4402800" y="4526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</a:t>
            </a:r>
            <a:endParaRPr lang="en-US" sz="1100" dirty="0"/>
          </a:p>
        </p:txBody>
      </p:sp>
      <p:sp>
        <p:nvSpPr>
          <p:cNvPr id="25" name="Text"/>
          <p:cNvSpPr/>
          <p:nvPr/>
        </p:nvSpPr>
        <p:spPr>
          <a:xfrm>
            <a:off x="4402800" y="48006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territórios costeiros da Bahia, ~150 famílias, via rede de parceiros socioambientais.</a:t>
            </a:r>
            <a:endParaRPr lang="en-US" sz="1200" dirty="0"/>
          </a:p>
        </p:txBody>
      </p:sp>
      <p:sp>
        <p:nvSpPr>
          <p:cNvPr id="26" name="Text"/>
          <p:cNvSpPr/>
          <p:nvPr/>
        </p:nvSpPr>
        <p:spPr>
          <a:xfrm>
            <a:off x="8028360" y="4526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3+</a:t>
            </a:r>
            <a:endParaRPr lang="en-US" sz="1100" dirty="0"/>
          </a:p>
        </p:txBody>
      </p:sp>
      <p:sp>
        <p:nvSpPr>
          <p:cNvPr id="27" name="Text"/>
          <p:cNvSpPr/>
          <p:nvPr/>
        </p:nvSpPr>
        <p:spPr>
          <a:xfrm>
            <a:off x="8028360" y="48006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6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 aberto de implantação — metodologia, cofre-modelo multisig e app white-label; adaptável a outros países.</a:t>
            </a:r>
            <a:endParaRPr lang="en-US" sz="1200" dirty="0"/>
          </a:p>
        </p:txBody>
      </p:sp>
      <p:sp>
        <p:nvSpPr>
          <p:cNvPr id="28" name="Text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Raízes do Futuro · Youth Challenge Blockchain — UNICEF Brasil</a:t>
            </a:r>
            <a:endParaRPr lang="en-US" sz="900" dirty="0"/>
          </a:p>
        </p:txBody>
      </p:sp>
      <p:sp>
        <p:nvSpPr>
          <p:cNvPr id="29" name="Text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1948</Words>
  <Application>Microsoft Office PowerPoint</Application>
  <PresentationFormat>Widescreen</PresentationFormat>
  <Paragraphs>211</Paragraphs>
  <Slides>12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Raízes do Futuro — Youth Challenge Blockchain · UNICEF Brasil</dc:title>
  <dc:subject>PptxGenJS Presentation</dc:subject>
  <dc:creator>Equipe Raízes do Futuro</dc:creator>
  <cp:lastModifiedBy>Milena Calasans</cp:lastModifiedBy>
  <cp:revision>2</cp:revision>
  <dcterms:created xsi:type="dcterms:W3CDTF">2026-07-28T01:28:25Z</dcterms:created>
  <dcterms:modified xsi:type="dcterms:W3CDTF">2026-07-28T02:23:35Z</dcterms:modified>
</cp:coreProperties>
</file>